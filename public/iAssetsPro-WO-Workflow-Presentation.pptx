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473398"/>
            <a:ext cx="8001000" cy="214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13837" y="1837730"/>
            <a:ext cx="2716214" cy="648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725"/>
              </a:lnSpc>
              <a:buNone/>
            </a:pPr>
            <a:r>
              <a:rPr lang="en-US" sz="3150" b="1" spc="-56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2118073" y="2552105"/>
            <a:ext cx="4907743" cy="32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Maintenance Repairs — Work Order Workflow</a:t>
            </a:r>
            <a:endParaRPr lang="en-US" sz="1575" dirty="0"/>
          </a:p>
        </p:txBody>
      </p:sp>
      <p:sp>
        <p:nvSpPr>
          <p:cNvPr id="5" name="Text 2"/>
          <p:cNvSpPr/>
          <p:nvPr/>
        </p:nvSpPr>
        <p:spPr>
          <a:xfrm>
            <a:off x="3566008" y="2937867"/>
            <a:ext cx="201187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End-to-End Process Walkthrough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371975" y="3337917"/>
            <a:ext cx="400050" cy="21431"/>
          </a:xfrm>
          <a:prstGeom prst="roundRect">
            <a:avLst>
              <a:gd name="adj" fmla="val 8889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097262" y="3530798"/>
            <a:ext cx="29493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Asset Management Platform · Lightworld Technology</a:t>
            </a:r>
            <a:endParaRPr lang="en-US" sz="731" dirty="0"/>
          </a:p>
        </p:txBody>
      </p:sp>
      <p:sp>
        <p:nvSpPr>
          <p:cNvPr id="8" name="Text 5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28600" y="4961334"/>
            <a:ext cx="846322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676034" y="4961334"/>
            <a:ext cx="2694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Cover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2p-fit-1784073145969-nfqx5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148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77190" y="1402434"/>
            <a:ext cx="1232252" cy="212027"/>
          </a:xfrm>
          <a:prstGeom prst="roundRect">
            <a:avLst>
              <a:gd name="adj" fmla="val 26954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400050" y="1413793"/>
            <a:ext cx="118653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84" kern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 OVERVIEW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00050" y="1774552"/>
            <a:ext cx="3143250" cy="88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Complete Asset Management Command Center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377190" y="2784535"/>
            <a:ext cx="1000304" cy="279206"/>
          </a:xfrm>
          <a:prstGeom prst="roundRect">
            <a:avLst>
              <a:gd name="adj" fmla="val 68229"/>
            </a:avLst>
          </a:prstGeom>
          <a:solidFill>
            <a:srgbClr val="131C2E">
              <a:alpha val="70000"/>
            </a:srgbClr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21494" y="2902707"/>
            <a:ext cx="42863" cy="42863"/>
          </a:xfrm>
          <a:prstGeom prst="roundRect">
            <a:avLst>
              <a:gd name="adj" fmla="val 66666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00050" y="2797336"/>
            <a:ext cx="954584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18+ Modules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377190" y="3123863"/>
            <a:ext cx="1251563" cy="279206"/>
          </a:xfrm>
          <a:prstGeom prst="roundRect">
            <a:avLst>
              <a:gd name="adj" fmla="val 68229"/>
            </a:avLst>
          </a:prstGeom>
          <a:solidFill>
            <a:srgbClr val="131C2E">
              <a:alpha val="70000"/>
            </a:srgbClr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21494" y="3242035"/>
            <a:ext cx="42863" cy="42863"/>
          </a:xfrm>
          <a:prstGeom prst="roundRect">
            <a:avLst>
              <a:gd name="adj" fmla="val 66666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00050" y="3136664"/>
            <a:ext cx="1205843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Role-Based Access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377190" y="3463191"/>
            <a:ext cx="1063370" cy="279206"/>
          </a:xfrm>
          <a:prstGeom prst="roundRect">
            <a:avLst>
              <a:gd name="adj" fmla="val 68229"/>
            </a:avLst>
          </a:prstGeom>
          <a:solidFill>
            <a:srgbClr val="131C2E">
              <a:alpha val="70000"/>
            </a:srgbClr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21494" y="3581363"/>
            <a:ext cx="42863" cy="42863"/>
          </a:xfrm>
          <a:prstGeom prst="roundRect">
            <a:avLst>
              <a:gd name="adj" fmla="val 66666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00050" y="3475992"/>
            <a:ext cx="1017650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KPIs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228600" y="4961334"/>
            <a:ext cx="79400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182942" y="4961334"/>
            <a:ext cx="7324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at a Glance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85750"/>
            <a:ext cx="2668576" cy="3154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End-to-End Workflow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457200" y="628650"/>
            <a:ext cx="254150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Issue Identification to Performance Reporting</a:t>
            </a:r>
            <a:endParaRPr lang="en-US" sz="788" dirty="0"/>
          </a:p>
        </p:txBody>
      </p:sp>
      <p:sp>
        <p:nvSpPr>
          <p:cNvPr id="4" name="Text 2"/>
          <p:cNvSpPr/>
          <p:nvPr/>
        </p:nvSpPr>
        <p:spPr>
          <a:xfrm>
            <a:off x="460772" y="1841692"/>
            <a:ext cx="1207294" cy="1460116"/>
          </a:xfrm>
          <a:prstGeom prst="roundRect">
            <a:avLst>
              <a:gd name="adj" fmla="val 9467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07256" y="2016714"/>
            <a:ext cx="314325" cy="314325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07256" y="2016714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78644" y="2431052"/>
            <a:ext cx="971550" cy="3368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Request Initiation</a:t>
            </a:r>
            <a:endParaRPr lang="en-US" sz="844" dirty="0"/>
          </a:p>
        </p:txBody>
      </p:sp>
      <p:sp>
        <p:nvSpPr>
          <p:cNvPr id="8" name="Text 6"/>
          <p:cNvSpPr/>
          <p:nvPr/>
        </p:nvSpPr>
        <p:spPr>
          <a:xfrm>
            <a:off x="578644" y="2795383"/>
            <a:ext cx="1000696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Operator identifies issue and submits request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701664" y="24216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10" name="Text 8"/>
          <p:cNvSpPr/>
          <p:nvPr/>
        </p:nvSpPr>
        <p:spPr>
          <a:xfrm>
            <a:off x="1863849" y="1901633"/>
            <a:ext cx="1207294" cy="1340123"/>
          </a:xfrm>
          <a:prstGeom prst="roundRect">
            <a:avLst>
              <a:gd name="adj" fmla="val 9467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310333" y="2076655"/>
            <a:ext cx="314325" cy="314325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310333" y="2076655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81721" y="2490992"/>
            <a:ext cx="971550" cy="3368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Review &amp; Approval</a:t>
            </a:r>
            <a:endParaRPr lang="en-US" sz="844" dirty="0"/>
          </a:p>
        </p:txBody>
      </p:sp>
      <p:sp>
        <p:nvSpPr>
          <p:cNvPr id="14" name="Text 12"/>
          <p:cNvSpPr/>
          <p:nvPr/>
        </p:nvSpPr>
        <p:spPr>
          <a:xfrm>
            <a:off x="1981721" y="2855323"/>
            <a:ext cx="1000697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Supervisor triages and approves request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104629" y="24216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3266815" y="1841692"/>
            <a:ext cx="1207294" cy="1460116"/>
          </a:xfrm>
          <a:prstGeom prst="roundRect">
            <a:avLst>
              <a:gd name="adj" fmla="val 9467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713299" y="2016714"/>
            <a:ext cx="314325" cy="314325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713299" y="2016714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84686" y="2431052"/>
            <a:ext cx="971550" cy="336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Planning &amp; Assignment</a:t>
            </a:r>
            <a:endParaRPr lang="en-US" sz="844" dirty="0"/>
          </a:p>
        </p:txBody>
      </p:sp>
      <p:sp>
        <p:nvSpPr>
          <p:cNvPr id="20" name="Text 18"/>
          <p:cNvSpPr/>
          <p:nvPr/>
        </p:nvSpPr>
        <p:spPr>
          <a:xfrm>
            <a:off x="3384686" y="2795383"/>
            <a:ext cx="1000697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 order created with resources assigned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07706" y="24216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4669892" y="1901633"/>
            <a:ext cx="1207294" cy="1340123"/>
          </a:xfrm>
          <a:prstGeom prst="roundRect">
            <a:avLst>
              <a:gd name="adj" fmla="val 9467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116376" y="2076655"/>
            <a:ext cx="314325" cy="314325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116376" y="2076655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87764" y="2490992"/>
            <a:ext cx="971550" cy="336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Execution &amp; Logistics</a:t>
            </a:r>
            <a:endParaRPr lang="en-US" sz="844" dirty="0"/>
          </a:p>
        </p:txBody>
      </p:sp>
      <p:sp>
        <p:nvSpPr>
          <p:cNvPr id="26" name="Text 24"/>
          <p:cNvSpPr/>
          <p:nvPr/>
        </p:nvSpPr>
        <p:spPr>
          <a:xfrm>
            <a:off x="4787764" y="2855323"/>
            <a:ext cx="97155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Tools and materials requisitioned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10783" y="24216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6072857" y="1901633"/>
            <a:ext cx="1207294" cy="1340123"/>
          </a:xfrm>
          <a:prstGeom prst="roundRect">
            <a:avLst>
              <a:gd name="adj" fmla="val 9467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519342" y="2076655"/>
            <a:ext cx="314325" cy="314325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519342" y="2076655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90729" y="2490992"/>
            <a:ext cx="971550" cy="336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Completion &amp; Verification</a:t>
            </a:r>
            <a:endParaRPr lang="en-US" sz="844" dirty="0"/>
          </a:p>
        </p:txBody>
      </p:sp>
      <p:sp>
        <p:nvSpPr>
          <p:cNvPr id="32" name="Text 30"/>
          <p:cNvSpPr/>
          <p:nvPr/>
        </p:nvSpPr>
        <p:spPr>
          <a:xfrm>
            <a:off x="6190729" y="2855323"/>
            <a:ext cx="97155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 documented and verified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13749" y="24216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34" name="Text 32"/>
          <p:cNvSpPr/>
          <p:nvPr/>
        </p:nvSpPr>
        <p:spPr>
          <a:xfrm>
            <a:off x="7475934" y="1901633"/>
            <a:ext cx="1207294" cy="1340123"/>
          </a:xfrm>
          <a:prstGeom prst="roundRect">
            <a:avLst>
              <a:gd name="adj" fmla="val 9467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922419" y="2076655"/>
            <a:ext cx="314325" cy="314325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922419" y="2076655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593806" y="2490992"/>
            <a:ext cx="971550" cy="336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Reporting &amp; Analytics</a:t>
            </a:r>
            <a:endParaRPr lang="en-US" sz="844" dirty="0"/>
          </a:p>
        </p:txBody>
      </p:sp>
      <p:sp>
        <p:nvSpPr>
          <p:cNvPr id="38" name="Text 36"/>
          <p:cNvSpPr/>
          <p:nvPr/>
        </p:nvSpPr>
        <p:spPr>
          <a:xfrm>
            <a:off x="7593806" y="2855323"/>
            <a:ext cx="97155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Insights and KPI performance data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28600" y="4961334"/>
            <a:ext cx="79853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228261" y="4961334"/>
            <a:ext cx="6871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Workflow Overview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4812979" cy="32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 for Industrial Maintenance Teams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460772" y="660797"/>
            <a:ext cx="2659819" cy="1288219"/>
          </a:xfrm>
          <a:prstGeom prst="roundRect">
            <a:avLst>
              <a:gd name="adj" fmla="val 8873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1506" y="807244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1506" y="807244"/>
            <a:ext cx="3000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4406" y="850106"/>
            <a:ext cx="19954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 Order Lifecycle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506" y="1121569"/>
            <a:ext cx="2338350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CRUD operations with complete status tracking from creation to closure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42035" y="660797"/>
            <a:ext cx="2659819" cy="1288219"/>
          </a:xfrm>
          <a:prstGeom prst="roundRect">
            <a:avLst>
              <a:gd name="adj" fmla="val 8873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02769" y="807244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06B6D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02769" y="807244"/>
            <a:ext cx="3000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6B6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745669" y="850106"/>
            <a:ext cx="19954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Request Triage &amp; Approval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02769" y="1121569"/>
            <a:ext cx="2338350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Multi-level workflow for reviewing and approving maintenance requests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023297" y="660797"/>
            <a:ext cx="2659931" cy="1288219"/>
          </a:xfrm>
          <a:prstGeom prst="roundRect">
            <a:avLst>
              <a:gd name="adj" fmla="val 8873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84032" y="807244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84032" y="807244"/>
            <a:ext cx="3000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26932" y="850106"/>
            <a:ext cx="199556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 Management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84032" y="1121569"/>
            <a:ext cx="2338462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Checkout, transfer, and damage reporting for repair tools and equipment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0772" y="2070460"/>
            <a:ext cx="2659819" cy="1288219"/>
          </a:xfrm>
          <a:prstGeom prst="roundRect">
            <a:avLst>
              <a:gd name="adj" fmla="val 8873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1506" y="2216907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8B5CF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1506" y="2216907"/>
            <a:ext cx="3000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8B5C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4406" y="2259769"/>
            <a:ext cx="19954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Material Requisition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506" y="2531232"/>
            <a:ext cx="2338350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Spare parts tracking with store issuance integration and return management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42035" y="2070460"/>
            <a:ext cx="2659819" cy="1288219"/>
          </a:xfrm>
          <a:prstGeom prst="roundRect">
            <a:avLst>
              <a:gd name="adj" fmla="val 8873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02769" y="2216907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402769" y="2216907"/>
            <a:ext cx="3000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45669" y="2259769"/>
            <a:ext cx="19954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Dashboards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02769" y="2531232"/>
            <a:ext cx="2338350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KPIs and analytics for instant visibility into operations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23297" y="2070460"/>
            <a:ext cx="2659931" cy="1288219"/>
          </a:xfrm>
          <a:prstGeom prst="roundRect">
            <a:avLst>
              <a:gd name="adj" fmla="val 8873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184032" y="2216907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06B6D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84032" y="2216907"/>
            <a:ext cx="3000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6B6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26932" y="2259769"/>
            <a:ext cx="199556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Downtime Analysis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84032" y="2531232"/>
            <a:ext cx="2338462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impact tracking with root cause categorization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60772" y="3480122"/>
            <a:ext cx="2659819" cy="1288219"/>
          </a:xfrm>
          <a:prstGeom prst="roundRect">
            <a:avLst>
              <a:gd name="adj" fmla="val 8873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21506" y="3626569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21506" y="3626569"/>
            <a:ext cx="3000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64406" y="3669432"/>
            <a:ext cx="19954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Team Assignment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506" y="3940894"/>
            <a:ext cx="2338350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Supervisor, technician, and planner role-based task distribution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242035" y="3480122"/>
            <a:ext cx="2659819" cy="1288219"/>
          </a:xfrm>
          <a:prstGeom prst="roundRect">
            <a:avLst>
              <a:gd name="adj" fmla="val 8873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402769" y="3626569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8B5CF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402769" y="3626569"/>
            <a:ext cx="3000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8B5C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745669" y="3669432"/>
            <a:ext cx="199545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Comprehensive Reporting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402769" y="3940894"/>
            <a:ext cx="2338350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Template-based report generation with PDF and Excel export options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023297" y="3480122"/>
            <a:ext cx="2659931" cy="1288219"/>
          </a:xfrm>
          <a:prstGeom prst="roundRect">
            <a:avLst>
              <a:gd name="adj" fmla="val 8873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184032" y="3626569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184032" y="3626569"/>
            <a:ext cx="3000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526932" y="3669432"/>
            <a:ext cx="199556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Multi-Plant Support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184032" y="3940894"/>
            <a:ext cx="2338462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Tema, Kumasi, and Takoradi unified under a single platform instance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228600" y="4961334"/>
            <a:ext cx="81035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346467" y="4961334"/>
            <a:ext cx="5689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 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2143125"/>
            <a:ext cx="1560195" cy="92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0"/>
              </a:lnSpc>
              <a:buNone/>
            </a:pPr>
            <a:r>
              <a:rPr lang="en-US" sz="6750" b="1" spc="-225" kern="0" dirty="0">
                <a:solidFill>
                  <a:srgbClr val="10B981">
                    <a:alpha val="1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750" dirty="0"/>
          </a:p>
        </p:txBody>
      </p:sp>
      <p:sp>
        <p:nvSpPr>
          <p:cNvPr id="3" name="Text 1"/>
          <p:cNvSpPr/>
          <p:nvPr/>
        </p:nvSpPr>
        <p:spPr>
          <a:xfrm>
            <a:off x="1889522" y="2139553"/>
            <a:ext cx="400050" cy="21431"/>
          </a:xfrm>
          <a:prstGeom prst="roundRect">
            <a:avLst>
              <a:gd name="adj" fmla="val 8889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889522" y="2246709"/>
            <a:ext cx="3600450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25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Request Initiation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889522" y="2661047"/>
            <a:ext cx="3429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Operator identifies an issue and submits a maintenance request with full details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95396" y="4643438"/>
            <a:ext cx="5661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1 of 6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8600" y="4961334"/>
            <a:ext cx="80448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87755" y="4961334"/>
            <a:ext cx="6276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Request Initiation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45239-ui8ns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58633" y="2268141"/>
            <a:ext cx="42863" cy="42863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572933" y="2219920"/>
            <a:ext cx="13264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Role-Based Access Control</a:t>
            </a:r>
            <a:endParaRPr lang="en-US" sz="731" dirty="0"/>
          </a:p>
        </p:txBody>
      </p:sp>
      <p:sp>
        <p:nvSpPr>
          <p:cNvPr id="6" name="Text 3"/>
          <p:cNvSpPr/>
          <p:nvPr/>
        </p:nvSpPr>
        <p:spPr>
          <a:xfrm>
            <a:off x="7458633" y="2550319"/>
            <a:ext cx="42863" cy="42863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572933" y="2502098"/>
            <a:ext cx="12965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Demo Accounts Available</a:t>
            </a:r>
            <a:endParaRPr lang="en-US" sz="731" dirty="0"/>
          </a:p>
        </p:txBody>
      </p:sp>
      <p:sp>
        <p:nvSpPr>
          <p:cNvPr id="8" name="Text 5"/>
          <p:cNvSpPr/>
          <p:nvPr/>
        </p:nvSpPr>
        <p:spPr>
          <a:xfrm>
            <a:off x="7458633" y="2832497"/>
            <a:ext cx="42863" cy="42863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572933" y="2784277"/>
            <a:ext cx="13023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Multi-Plant Authentication</a:t>
            </a:r>
            <a:endParaRPr lang="en-US" sz="731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1102812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Secure Login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77149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957803" y="4961334"/>
            <a:ext cx="9575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Login &amp; Role-Based Access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45240-snqb9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94253" y="2268141"/>
            <a:ext cx="42863" cy="42863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708553" y="2219920"/>
            <a:ext cx="11391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Quick Action Buttons</a:t>
            </a:r>
            <a:endParaRPr lang="en-US" sz="731" dirty="0"/>
          </a:p>
        </p:txBody>
      </p:sp>
      <p:sp>
        <p:nvSpPr>
          <p:cNvPr id="6" name="Text 3"/>
          <p:cNvSpPr/>
          <p:nvPr/>
        </p:nvSpPr>
        <p:spPr>
          <a:xfrm>
            <a:off x="7594253" y="2550319"/>
            <a:ext cx="42863" cy="42863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708553" y="2502098"/>
            <a:ext cx="11121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Recent Activity Feed</a:t>
            </a:r>
            <a:endParaRPr lang="en-US" sz="731" dirty="0"/>
          </a:p>
        </p:txBody>
      </p:sp>
      <p:sp>
        <p:nvSpPr>
          <p:cNvPr id="8" name="Text 5"/>
          <p:cNvSpPr/>
          <p:nvPr/>
        </p:nvSpPr>
        <p:spPr>
          <a:xfrm>
            <a:off x="7594253" y="2832497"/>
            <a:ext cx="42863" cy="42863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708553" y="2784277"/>
            <a:ext cx="128046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Cross-Module Overview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156464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Operator Workspace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794239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185286" y="4961334"/>
            <a:ext cx="73011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Operator Dashboard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45638-anz5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26499" y="2268141"/>
            <a:ext cx="42863" cy="42863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640799" y="2219920"/>
            <a:ext cx="11603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KPIs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526499" y="2550319"/>
            <a:ext cx="42863" cy="42863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640799" y="2502098"/>
            <a:ext cx="11610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Pending Action Alerts</a:t>
            </a:r>
            <a:endParaRPr lang="en-US" sz="731" dirty="0"/>
          </a:p>
        </p:txBody>
      </p:sp>
      <p:sp>
        <p:nvSpPr>
          <p:cNvPr id="8" name="Text 5"/>
          <p:cNvSpPr/>
          <p:nvPr/>
        </p:nvSpPr>
        <p:spPr>
          <a:xfrm>
            <a:off x="7526499" y="2832497"/>
            <a:ext cx="42863" cy="42863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640799" y="2784277"/>
            <a:ext cx="12763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Module Quick Navigation</a:t>
            </a:r>
            <a:endParaRPr lang="en-US" sz="731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1512147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 Dashboard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77918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034710" y="4961334"/>
            <a:ext cx="8806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 Command Center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50283-16sc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59315" y="2268141"/>
            <a:ext cx="42863" cy="42863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673615" y="2219920"/>
            <a:ext cx="12402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18+ Integrated Modules</a:t>
            </a:r>
            <a:endParaRPr lang="en-US" sz="731" dirty="0"/>
          </a:p>
        </p:txBody>
      </p:sp>
      <p:sp>
        <p:nvSpPr>
          <p:cNvPr id="6" name="Text 3"/>
          <p:cNvSpPr/>
          <p:nvPr/>
        </p:nvSpPr>
        <p:spPr>
          <a:xfrm>
            <a:off x="7559315" y="2550319"/>
            <a:ext cx="42863" cy="42863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673615" y="2502098"/>
            <a:ext cx="12289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Contextual Sub-Menus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559315" y="2832497"/>
            <a:ext cx="42863" cy="42863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673615" y="2784277"/>
            <a:ext cx="11391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Collapsible Navigation</a:t>
            </a:r>
            <a:endParaRPr lang="en-US" sz="731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2247910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Complete Module Ecosystem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785979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102687" y="4961334"/>
            <a:ext cx="8127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Module Navigation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53900-6em1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26375" y="2268141"/>
            <a:ext cx="42863" cy="42863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540675" y="2219920"/>
            <a:ext cx="12604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Title &amp; Description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426375" y="2550319"/>
            <a:ext cx="42863" cy="42863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540675" y="2502098"/>
            <a:ext cx="12604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Asset Selection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426375" y="2832497"/>
            <a:ext cx="42863" cy="42863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540675" y="2784277"/>
            <a:ext cx="136125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Priority &amp; Downtime Status</a:t>
            </a:r>
            <a:endParaRPr lang="en-US" sz="731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160162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 Request Form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763945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882347" y="4961334"/>
            <a:ext cx="10950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Create Maintenance Request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54176-go7b7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55297" y="2268141"/>
            <a:ext cx="42863" cy="42863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669597" y="2219920"/>
            <a:ext cx="11315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Filterable Data Table</a:t>
            </a:r>
            <a:endParaRPr lang="en-US" sz="731" dirty="0"/>
          </a:p>
        </p:txBody>
      </p:sp>
      <p:sp>
        <p:nvSpPr>
          <p:cNvPr id="6" name="Text 3"/>
          <p:cNvSpPr/>
          <p:nvPr/>
        </p:nvSpPr>
        <p:spPr>
          <a:xfrm>
            <a:off x="7555297" y="2550319"/>
            <a:ext cx="42863" cy="42863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669597" y="2502098"/>
            <a:ext cx="12446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Status &amp; Priority Badges</a:t>
            </a:r>
            <a:endParaRPr lang="en-US" sz="731" dirty="0"/>
          </a:p>
        </p:txBody>
      </p:sp>
      <p:sp>
        <p:nvSpPr>
          <p:cNvPr id="8" name="Text 5"/>
          <p:cNvSpPr/>
          <p:nvPr/>
        </p:nvSpPr>
        <p:spPr>
          <a:xfrm>
            <a:off x="7555297" y="2832497"/>
            <a:ext cx="42863" cy="42863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669597" y="2784277"/>
            <a:ext cx="11683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One-Click Detail View</a:t>
            </a:r>
            <a:endParaRPr lang="en-US" sz="731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1468584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Request Tracking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783613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079023" y="4961334"/>
            <a:ext cx="8363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Request List &amp; Tracking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12802" y="2143125"/>
            <a:ext cx="1560195" cy="92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0"/>
              </a:lnSpc>
              <a:buNone/>
            </a:pPr>
            <a:r>
              <a:rPr lang="en-US" sz="6750" b="1" spc="-225" kern="0" dirty="0">
                <a:solidFill>
                  <a:srgbClr val="06B6D4">
                    <a:alpha val="1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750" dirty="0"/>
          </a:p>
        </p:txBody>
      </p:sp>
      <p:sp>
        <p:nvSpPr>
          <p:cNvPr id="3" name="Text 1"/>
          <p:cNvSpPr/>
          <p:nvPr/>
        </p:nvSpPr>
        <p:spPr>
          <a:xfrm>
            <a:off x="3730823" y="2110978"/>
            <a:ext cx="400050" cy="21431"/>
          </a:xfrm>
          <a:prstGeom prst="roundRect">
            <a:avLst>
              <a:gd name="adj" fmla="val 8889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730823" y="2246709"/>
            <a:ext cx="3600450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25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Review &amp; Approval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730823" y="2689622"/>
            <a:ext cx="3429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Supervisor reviews, triages, and approves the request for work order creation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46678" y="4643438"/>
            <a:ext cx="8973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2 of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8600" y="4961334"/>
            <a:ext cx="750361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46504" y="4961334"/>
            <a:ext cx="12390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02 — Review &amp; Approval</a:t>
            </a: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55116-2foaz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9375" y="2036638"/>
            <a:ext cx="57150" cy="57150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572250" y="2000250"/>
            <a:ext cx="1763055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Visual Workflow Stepper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429375" y="2395165"/>
            <a:ext cx="57150" cy="57150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572250" y="2358777"/>
            <a:ext cx="1904100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Submitted → Approved → WO Created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29375" y="2753692"/>
            <a:ext cx="57150" cy="57150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72250" y="2717304"/>
            <a:ext cx="1763055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Audit Trail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06B6D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02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2096258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Workflow Progress Tracker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74696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712571" y="4961334"/>
            <a:ext cx="12749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Request Detail &amp; Workflow Status</a:t>
            </a:r>
            <a:endParaRPr lang="en-US" sz="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84202" y="2143125"/>
            <a:ext cx="1560195" cy="92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0"/>
              </a:lnSpc>
              <a:buNone/>
            </a:pPr>
            <a:r>
              <a:rPr lang="en-US" sz="6750" b="1" spc="-225" kern="0" dirty="0">
                <a:solidFill>
                  <a:srgbClr val="8B5CF6">
                    <a:alpha val="1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750" dirty="0"/>
          </a:p>
        </p:txBody>
      </p:sp>
      <p:sp>
        <p:nvSpPr>
          <p:cNvPr id="3" name="Text 1"/>
          <p:cNvSpPr/>
          <p:nvPr/>
        </p:nvSpPr>
        <p:spPr>
          <a:xfrm>
            <a:off x="3502223" y="2110978"/>
            <a:ext cx="400050" cy="21431"/>
          </a:xfrm>
          <a:prstGeom prst="roundRect">
            <a:avLst>
              <a:gd name="adj" fmla="val 88890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02223" y="2246709"/>
            <a:ext cx="4080393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25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Planning &amp; Work Orders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502223" y="2689622"/>
            <a:ext cx="3429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Approved requests are converted into executable work orders with resource assignment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46678" y="4643438"/>
            <a:ext cx="8973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3 of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8600" y="4961334"/>
            <a:ext cx="73239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566794" y="4961334"/>
            <a:ext cx="14564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03 — Planning &amp; Work Orders</a:t>
            </a:r>
            <a:endParaRPr lang="en-US" sz="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54324-95jrx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9375" y="2036638"/>
            <a:ext cx="57150" cy="57150"/>
          </a:xfrm>
          <a:prstGeom prst="ellipse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572250" y="2000250"/>
            <a:ext cx="2098307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Type: Breakdown / Corrective / Preventive</a:t>
            </a:r>
            <a:endParaRPr lang="en-US" sz="731" dirty="0"/>
          </a:p>
        </p:txBody>
      </p:sp>
      <p:sp>
        <p:nvSpPr>
          <p:cNvPr id="6" name="Text 3"/>
          <p:cNvSpPr/>
          <p:nvPr/>
        </p:nvSpPr>
        <p:spPr>
          <a:xfrm>
            <a:off x="6429375" y="2395165"/>
            <a:ext cx="57150" cy="57150"/>
          </a:xfrm>
          <a:prstGeom prst="ellipse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572250" y="2358777"/>
            <a:ext cx="1942877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Priority-Based Sorting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29375" y="2753692"/>
            <a:ext cx="57150" cy="57150"/>
          </a:xfrm>
          <a:prstGeom prst="ellipse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72250" y="2717304"/>
            <a:ext cx="1942877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Status Tracking Across WOs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8B5C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03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191731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 Order Management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80616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304498" y="4961334"/>
            <a:ext cx="61090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 Orders Hub</a:t>
            </a:r>
            <a:endParaRPr lang="en-US" sz="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55387-29prh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9375" y="2036638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572250" y="2000250"/>
            <a:ext cx="1137479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Auto-Link to Request</a:t>
            </a:r>
            <a:endParaRPr lang="en-US" sz="731" dirty="0"/>
          </a:p>
        </p:txBody>
      </p:sp>
      <p:sp>
        <p:nvSpPr>
          <p:cNvPr id="6" name="Text 3"/>
          <p:cNvSpPr/>
          <p:nvPr/>
        </p:nvSpPr>
        <p:spPr>
          <a:xfrm>
            <a:off x="6429375" y="2395165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572250" y="2358777"/>
            <a:ext cx="1246127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Type &amp; Priority Selection</a:t>
            </a:r>
            <a:endParaRPr lang="en-US" sz="731" dirty="0"/>
          </a:p>
        </p:txBody>
      </p:sp>
      <p:sp>
        <p:nvSpPr>
          <p:cNvPr id="8" name="Text 5"/>
          <p:cNvSpPr/>
          <p:nvPr/>
        </p:nvSpPr>
        <p:spPr>
          <a:xfrm>
            <a:off x="6429375" y="2753692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72250" y="2717304"/>
            <a:ext cx="1244228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Technician Assignment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8B5C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03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1554402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 Creation Form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80058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48687" y="4961334"/>
            <a:ext cx="6667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Create Work Order</a:t>
            </a:r>
            <a:endParaRPr lang="en-US" sz="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56661-ohl8k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9375" y="2036638"/>
            <a:ext cx="57150" cy="57150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572250" y="2000250"/>
            <a:ext cx="1246986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 / Complete Actions</a:t>
            </a:r>
            <a:endParaRPr lang="en-US" sz="731" dirty="0"/>
          </a:p>
        </p:txBody>
      </p:sp>
      <p:sp>
        <p:nvSpPr>
          <p:cNvPr id="6" name="Text 3"/>
          <p:cNvSpPr/>
          <p:nvPr/>
        </p:nvSpPr>
        <p:spPr>
          <a:xfrm>
            <a:off x="6429375" y="2395165"/>
            <a:ext cx="57150" cy="57150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572250" y="2358777"/>
            <a:ext cx="1133624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Task Checklist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29375" y="2753692"/>
            <a:ext cx="57150" cy="57150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72250" y="2717304"/>
            <a:ext cx="1194648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 &amp; Labor Logging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8B5C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03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1538981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 Detail &amp; Actions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77002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943180" y="4961334"/>
            <a:ext cx="9722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 Order Execution View</a:t>
            </a:r>
            <a:endParaRPr lang="en-US" sz="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12802" y="2143125"/>
            <a:ext cx="1560195" cy="92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0"/>
              </a:lnSpc>
              <a:buNone/>
            </a:pPr>
            <a:r>
              <a:rPr lang="en-US" sz="6750" b="1" spc="-225" kern="0" dirty="0">
                <a:solidFill>
                  <a:srgbClr val="F59E0B">
                    <a:alpha val="1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750" dirty="0"/>
          </a:p>
        </p:txBody>
      </p:sp>
      <p:sp>
        <p:nvSpPr>
          <p:cNvPr id="3" name="Text 1"/>
          <p:cNvSpPr/>
          <p:nvPr/>
        </p:nvSpPr>
        <p:spPr>
          <a:xfrm>
            <a:off x="3730823" y="2110978"/>
            <a:ext cx="400050" cy="21431"/>
          </a:xfrm>
          <a:prstGeom prst="roundRect">
            <a:avLst>
              <a:gd name="adj" fmla="val 8889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730823" y="2246709"/>
            <a:ext cx="3600450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25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Tools &amp; Materials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730823" y="2689622"/>
            <a:ext cx="3429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Technicians request specialized tools and spare parts needed for work order execution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46678" y="4643438"/>
            <a:ext cx="8973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4 of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8600" y="4961334"/>
            <a:ext cx="7572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814928" y="4961334"/>
            <a:ext cx="116650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04 — Tools &amp; Materials</a:t>
            </a:r>
            <a:endParaRPr lang="en-US" sz="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63864-ynxc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9375" y="2036638"/>
            <a:ext cx="57150" cy="5715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572250" y="2000250"/>
            <a:ext cx="1124136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WO-Linked Requests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429375" y="2395165"/>
            <a:ext cx="57150" cy="5715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572250" y="2358777"/>
            <a:ext cx="1017387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Approval Workflow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29375" y="2753692"/>
            <a:ext cx="57150" cy="5715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72250" y="2717304"/>
            <a:ext cx="964797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Issuance Tracking</a:t>
            </a:r>
            <a:endParaRPr lang="en-US" sz="731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160133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Repair Tool Requests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81836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355497" y="4961334"/>
            <a:ext cx="6309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 Requests</a:t>
            </a:r>
            <a:endParaRPr lang="en-US" sz="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63140-y05j1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9375" y="2036638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572250" y="2000250"/>
            <a:ext cx="1223256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Parts Requisition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429375" y="2395165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572250" y="2358777"/>
            <a:ext cx="1241952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Quantity &amp; Specification</a:t>
            </a:r>
            <a:endParaRPr lang="en-US" sz="731" dirty="0"/>
          </a:p>
        </p:txBody>
      </p:sp>
      <p:sp>
        <p:nvSpPr>
          <p:cNvPr id="8" name="Text 5"/>
          <p:cNvSpPr/>
          <p:nvPr/>
        </p:nvSpPr>
        <p:spPr>
          <a:xfrm>
            <a:off x="6429375" y="2753692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72250" y="2717304"/>
            <a:ext cx="1321116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Store Issuance Integration</a:t>
            </a:r>
            <a:endParaRPr lang="en-US" sz="731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1812062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Spare Parts &amp; Materials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80321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75030" y="4961334"/>
            <a:ext cx="64037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Material Requests</a:t>
            </a:r>
            <a:endParaRPr lang="en-US" sz="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64226-0coxk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9375" y="2036638"/>
            <a:ext cx="57150" cy="57150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572250" y="2000250"/>
            <a:ext cx="1278620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Cross-Plant Movement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429375" y="2395165"/>
            <a:ext cx="57150" cy="57150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572250" y="2358777"/>
            <a:ext cx="1380909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Sender &amp; Receiver Tracking</a:t>
            </a:r>
            <a:endParaRPr lang="en-US" sz="731" dirty="0"/>
          </a:p>
        </p:txBody>
      </p:sp>
      <p:sp>
        <p:nvSpPr>
          <p:cNvPr id="8" name="Text 5"/>
          <p:cNvSpPr/>
          <p:nvPr/>
        </p:nvSpPr>
        <p:spPr>
          <a:xfrm>
            <a:off x="6429375" y="2753692"/>
            <a:ext cx="57150" cy="57150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72250" y="2717304"/>
            <a:ext cx="1278620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Audit Trail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1985954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Inter-Plant Tool Transfers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818651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429402" y="4961334"/>
            <a:ext cx="4859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 Transfers</a:t>
            </a:r>
            <a:endParaRPr lang="en-US" sz="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0125" y="2214563"/>
            <a:ext cx="1560195" cy="92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0"/>
              </a:lnSpc>
              <a:buNone/>
            </a:pPr>
            <a:r>
              <a:rPr lang="en-US" sz="6750" b="1" spc="-225" kern="0" dirty="0">
                <a:solidFill>
                  <a:srgbClr val="10B981">
                    <a:alpha val="1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6750" dirty="0"/>
          </a:p>
        </p:txBody>
      </p:sp>
      <p:sp>
        <p:nvSpPr>
          <p:cNvPr id="3" name="Text 1"/>
          <p:cNvSpPr/>
          <p:nvPr/>
        </p:nvSpPr>
        <p:spPr>
          <a:xfrm>
            <a:off x="2318147" y="2168128"/>
            <a:ext cx="400050" cy="21431"/>
          </a:xfrm>
          <a:prstGeom prst="roundRect">
            <a:avLst>
              <a:gd name="adj" fmla="val 8889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318147" y="2332434"/>
            <a:ext cx="4459415" cy="35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25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Completion &amp; Verification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318147" y="2775347"/>
            <a:ext cx="3429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 is documented, verified by supervisors, and closed with full traceability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95396" y="4672013"/>
            <a:ext cx="5661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5 of 6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8600" y="4961334"/>
            <a:ext cx="77607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003679" y="4961334"/>
            <a:ext cx="96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Completion &amp; Verification</a:t>
            </a:r>
            <a:endParaRPr lang="en-US" sz="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64956-qjq4t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9375" y="2213223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572250" y="2176835"/>
            <a:ext cx="1379583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Completion Documentation</a:t>
            </a:r>
            <a:endParaRPr lang="en-US" sz="731" dirty="0"/>
          </a:p>
        </p:txBody>
      </p:sp>
      <p:sp>
        <p:nvSpPr>
          <p:cNvPr id="6" name="Text 3"/>
          <p:cNvSpPr/>
          <p:nvPr/>
        </p:nvSpPr>
        <p:spPr>
          <a:xfrm>
            <a:off x="6429375" y="2543175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572250" y="2506787"/>
            <a:ext cx="1277392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Actual Work Recorded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29375" y="2873127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72250" y="2836738"/>
            <a:ext cx="1277392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Parts &amp; Tools Consumed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05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159230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Mark Work Complete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81137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316064" y="4961334"/>
            <a:ext cx="6398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 Completion</a:t>
            </a:r>
            <a:endParaRPr lang="en-US" sz="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64535-jsj80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9375" y="2213223"/>
            <a:ext cx="57150" cy="57150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572250" y="2176835"/>
            <a:ext cx="1466031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Return from Completed WOs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429375" y="2543175"/>
            <a:ext cx="57150" cy="57150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572250" y="2506787"/>
            <a:ext cx="1332756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Inspection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29375" y="2873127"/>
            <a:ext cx="57150" cy="57150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72250" y="2836738"/>
            <a:ext cx="1332756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Inventory Restocking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05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158140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Unused Part Returns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80055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48464" y="4961334"/>
            <a:ext cx="66693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Spare Part Returns</a:t>
            </a:r>
            <a:endParaRPr lang="en-US" sz="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64816-sv99r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9375" y="2213223"/>
            <a:ext cx="57150" cy="5715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572250" y="2176835"/>
            <a:ext cx="1214140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Damage Classification</a:t>
            </a:r>
            <a:endParaRPr lang="en-US" sz="731" dirty="0"/>
          </a:p>
        </p:txBody>
      </p:sp>
      <p:sp>
        <p:nvSpPr>
          <p:cNvPr id="6" name="Text 3"/>
          <p:cNvSpPr/>
          <p:nvPr/>
        </p:nvSpPr>
        <p:spPr>
          <a:xfrm>
            <a:off x="6429375" y="2543175"/>
            <a:ext cx="57150" cy="5715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572250" y="2506787"/>
            <a:ext cx="1153794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Replacement Initiation</a:t>
            </a:r>
            <a:endParaRPr lang="en-US" sz="731" dirty="0"/>
          </a:p>
        </p:txBody>
      </p:sp>
      <p:sp>
        <p:nvSpPr>
          <p:cNvPr id="8" name="Text 5"/>
          <p:cNvSpPr/>
          <p:nvPr/>
        </p:nvSpPr>
        <p:spPr>
          <a:xfrm>
            <a:off x="6429375" y="2873127"/>
            <a:ext cx="57150" cy="5715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72250" y="2836738"/>
            <a:ext cx="1226236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Warranty Claim Support</a:t>
            </a:r>
            <a:endParaRPr lang="en-US" sz="731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05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1591032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Damage Reporting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7867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110389" y="4961334"/>
            <a:ext cx="8050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Damaged Tool Reports</a:t>
            </a:r>
            <a:endParaRPr lang="en-US" sz="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0125" y="2214563"/>
            <a:ext cx="1560195" cy="92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0"/>
              </a:lnSpc>
              <a:buNone/>
            </a:pPr>
            <a:r>
              <a:rPr lang="en-US" sz="6750" b="1" spc="-225" kern="0" dirty="0">
                <a:solidFill>
                  <a:srgbClr val="06B6D4">
                    <a:alpha val="1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6750" dirty="0"/>
          </a:p>
        </p:txBody>
      </p:sp>
      <p:sp>
        <p:nvSpPr>
          <p:cNvPr id="3" name="Text 1"/>
          <p:cNvSpPr/>
          <p:nvPr/>
        </p:nvSpPr>
        <p:spPr>
          <a:xfrm>
            <a:off x="2318147" y="2168128"/>
            <a:ext cx="400050" cy="21431"/>
          </a:xfrm>
          <a:prstGeom prst="roundRect">
            <a:avLst>
              <a:gd name="adj" fmla="val 8889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318147" y="2332434"/>
            <a:ext cx="3698079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25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Analytics &amp; Reporting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318147" y="2775347"/>
            <a:ext cx="3429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Data-driven insights into maintenance performance, downtime trends, and resource utilization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95396" y="4672013"/>
            <a:ext cx="5661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6 of 6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8600" y="4961334"/>
            <a:ext cx="789964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142536" y="4961334"/>
            <a:ext cx="77286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Analytics &amp; Reporting</a:t>
            </a:r>
            <a:endParaRPr lang="en-US" sz="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69449-2ob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9375" y="2213223"/>
            <a:ext cx="57150" cy="57150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572250" y="2176835"/>
            <a:ext cx="1106500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Visual KPI Charts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429375" y="2543175"/>
            <a:ext cx="57150" cy="57150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572250" y="2506787"/>
            <a:ext cx="1217150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Completion Rate Trends</a:t>
            </a:r>
            <a:endParaRPr lang="en-US" sz="731" dirty="0"/>
          </a:p>
        </p:txBody>
      </p:sp>
      <p:sp>
        <p:nvSpPr>
          <p:cNvPr id="8" name="Text 5"/>
          <p:cNvSpPr/>
          <p:nvPr/>
        </p:nvSpPr>
        <p:spPr>
          <a:xfrm>
            <a:off x="6429375" y="2873127"/>
            <a:ext cx="57150" cy="57150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72250" y="2836738"/>
            <a:ext cx="1171966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Technician Productivity</a:t>
            </a:r>
            <a:endParaRPr lang="en-US" sz="731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06B6D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2171240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Repair Analytics Dashboard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80593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302265" y="4961334"/>
            <a:ext cx="61313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Repairs Analytics</a:t>
            </a:r>
            <a:endParaRPr lang="en-US" sz="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72247-ohky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9375" y="2213223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572250" y="2176835"/>
            <a:ext cx="1237409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Template-Based Reports</a:t>
            </a:r>
            <a:endParaRPr lang="en-US" sz="731" dirty="0"/>
          </a:p>
        </p:txBody>
      </p:sp>
      <p:sp>
        <p:nvSpPr>
          <p:cNvPr id="6" name="Text 3"/>
          <p:cNvSpPr/>
          <p:nvPr/>
        </p:nvSpPr>
        <p:spPr>
          <a:xfrm>
            <a:off x="6429375" y="2543175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572250" y="2506787"/>
            <a:ext cx="1124917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PDF &amp; Excel Export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29375" y="2873127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72250" y="2836738"/>
            <a:ext cx="1162757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Scheduled Distribution</a:t>
            </a:r>
            <a:endParaRPr lang="en-US" sz="731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06B6D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1238472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Report Builder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79772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20112" y="4961334"/>
            <a:ext cx="6952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Reports Generation</a:t>
            </a:r>
            <a:endParaRPr lang="en-US" sz="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73149-corhu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9375" y="2213223"/>
            <a:ext cx="57150" cy="5715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572250" y="2176835"/>
            <a:ext cx="1361862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Impact Tracking</a:t>
            </a:r>
            <a:endParaRPr lang="en-US" sz="731" dirty="0"/>
          </a:p>
        </p:txBody>
      </p:sp>
      <p:sp>
        <p:nvSpPr>
          <p:cNvPr id="6" name="Text 3"/>
          <p:cNvSpPr/>
          <p:nvPr/>
        </p:nvSpPr>
        <p:spPr>
          <a:xfrm>
            <a:off x="6429375" y="2543175"/>
            <a:ext cx="57150" cy="5715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572250" y="2506787"/>
            <a:ext cx="1332930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Root Cause Categorization</a:t>
            </a:r>
            <a:endParaRPr lang="en-US" sz="731" dirty="0"/>
          </a:p>
        </p:txBody>
      </p:sp>
      <p:sp>
        <p:nvSpPr>
          <p:cNvPr id="8" name="Text 5"/>
          <p:cNvSpPr/>
          <p:nvPr/>
        </p:nvSpPr>
        <p:spPr>
          <a:xfrm>
            <a:off x="6429375" y="2873127"/>
            <a:ext cx="57150" cy="5715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72250" y="2836738"/>
            <a:ext cx="1260983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Reduction Strategies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06B6D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144885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Downtime Analysis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79884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31386" y="4961334"/>
            <a:ext cx="68401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Downtime Tracking</a:t>
            </a:r>
            <a:endParaRPr lang="en-US" sz="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172" y="403622"/>
            <a:ext cx="5993606" cy="4350544"/>
          </a:xfrm>
          <a:prstGeom prst="roundRect">
            <a:avLst>
              <a:gd name="adj" fmla="val 2189"/>
            </a:avLst>
          </a:prstGeom>
          <a:noFill/>
          <a:ln w="7144">
            <a:solidFill>
              <a:srgbClr val="1E2D4A"/>
            </a:solidFill>
            <a:prstDash val="solid"/>
          </a:ln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073173494-8fvaj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407194"/>
            <a:ext cx="5986463" cy="4343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9375" y="2213223"/>
            <a:ext cx="57150" cy="57150"/>
          </a:xfrm>
          <a:prstGeom prst="ellipse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572250" y="2176835"/>
            <a:ext cx="1077040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Executive Overview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429375" y="2543175"/>
            <a:ext cx="57150" cy="57150"/>
          </a:xfrm>
          <a:prstGeom prst="ellipse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572250" y="2506787"/>
            <a:ext cx="1020003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Trend Visualization</a:t>
            </a:r>
            <a:endParaRPr lang="en-US" sz="731" dirty="0"/>
          </a:p>
        </p:txBody>
      </p:sp>
      <p:sp>
        <p:nvSpPr>
          <p:cNvPr id="8" name="Text 5"/>
          <p:cNvSpPr/>
          <p:nvPr/>
        </p:nvSpPr>
        <p:spPr>
          <a:xfrm>
            <a:off x="6429375" y="2873127"/>
            <a:ext cx="57150" cy="57150"/>
          </a:xfrm>
          <a:prstGeom prst="ellipse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72250" y="2836738"/>
            <a:ext cx="1007052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Proactive Planning</a:t>
            </a:r>
            <a:endParaRPr lang="en-US" sz="731" dirty="0"/>
          </a:p>
        </p:txBody>
      </p:sp>
      <p:sp>
        <p:nvSpPr>
          <p:cNvPr id="10" name="Text 7"/>
          <p:cNvSpPr/>
          <p:nvPr/>
        </p:nvSpPr>
        <p:spPr>
          <a:xfrm>
            <a:off x="228600" y="141303"/>
            <a:ext cx="552636" cy="196025"/>
          </a:xfrm>
          <a:prstGeom prst="roundRect">
            <a:avLst>
              <a:gd name="adj" fmla="val 29154"/>
            </a:avLst>
          </a:prstGeom>
          <a:solidFill>
            <a:srgbClr val="06B6D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28600" y="151805"/>
            <a:ext cx="55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6" kern="0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6961" y="142875"/>
            <a:ext cx="2729390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Maintenance Command Dashboard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8600" y="4961334"/>
            <a:ext cx="78020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044979" y="4961334"/>
            <a:ext cx="8704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Maintenance Dashboard</a:t>
            </a:r>
            <a:endParaRPr lang="en-US" sz="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00050"/>
            <a:ext cx="8636000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Impact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575072" y="1046559"/>
            <a:ext cx="1864519" cy="1421606"/>
          </a:xfrm>
          <a:prstGeom prst="roundRect">
            <a:avLst>
              <a:gd name="adj" fmla="val 8040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93031" y="123765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404082" y="1551980"/>
            <a:ext cx="330398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077590" y="1952030"/>
            <a:ext cx="10071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Active Modules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0699" y="2159198"/>
            <a:ext cx="1833153" cy="164592"/>
          </a:xfrm>
          <a:prstGeom prst="rect">
            <a:avLst/>
          </a:prstGeom>
          <a:noFill/>
          <a:ln/>
        </p:spPr>
        <p:txBody>
          <a:bodyPr wrap="square" lIns="114300" tIns="0" rIns="11430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Fully integrated maintenance ecosystem</a:t>
            </a:r>
            <a:endParaRPr lang="en-US" sz="619" dirty="0"/>
          </a:p>
        </p:txBody>
      </p:sp>
      <p:sp>
        <p:nvSpPr>
          <p:cNvPr id="8" name="Text 6"/>
          <p:cNvSpPr/>
          <p:nvPr/>
        </p:nvSpPr>
        <p:spPr>
          <a:xfrm>
            <a:off x="2618184" y="1046559"/>
            <a:ext cx="1864519" cy="1421606"/>
          </a:xfrm>
          <a:prstGeom prst="roundRect">
            <a:avLst>
              <a:gd name="adj" fmla="val 8040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36144" y="123765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3137557" y="1551980"/>
            <a:ext cx="1321237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242041" y="1952030"/>
            <a:ext cx="7165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 Trail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46437" y="2159198"/>
            <a:ext cx="1608013" cy="164592"/>
          </a:xfrm>
          <a:prstGeom prst="rect">
            <a:avLst/>
          </a:prstGeom>
          <a:noFill/>
          <a:ln/>
        </p:spPr>
        <p:txBody>
          <a:bodyPr wrap="square" lIns="114300" tIns="0" rIns="11430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action tracked and traceable</a:t>
            </a:r>
            <a:endParaRPr lang="en-US" sz="619" dirty="0"/>
          </a:p>
        </p:txBody>
      </p:sp>
      <p:sp>
        <p:nvSpPr>
          <p:cNvPr id="13" name="Text 11"/>
          <p:cNvSpPr/>
          <p:nvPr/>
        </p:nvSpPr>
        <p:spPr>
          <a:xfrm>
            <a:off x="4661297" y="1046559"/>
            <a:ext cx="1864519" cy="1421606"/>
          </a:xfrm>
          <a:prstGeom prst="roundRect">
            <a:avLst>
              <a:gd name="adj" fmla="val 8040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79256" y="123765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5490307" y="1551980"/>
            <a:ext cx="330398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5287738" y="1952030"/>
            <a:ext cx="7165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Plant Sites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72819" y="2159198"/>
            <a:ext cx="1441363" cy="164592"/>
          </a:xfrm>
          <a:prstGeom prst="rect">
            <a:avLst/>
          </a:prstGeom>
          <a:noFill/>
          <a:ln/>
        </p:spPr>
        <p:txBody>
          <a:bodyPr wrap="square" lIns="114300" tIns="0" rIns="11430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Tema, Kumasi, Takoradi unified</a:t>
            </a:r>
            <a:endParaRPr lang="en-US" sz="619" dirty="0"/>
          </a:p>
        </p:txBody>
      </p:sp>
      <p:sp>
        <p:nvSpPr>
          <p:cNvPr id="18" name="Text 16"/>
          <p:cNvSpPr/>
          <p:nvPr/>
        </p:nvSpPr>
        <p:spPr>
          <a:xfrm>
            <a:off x="6704409" y="1046559"/>
            <a:ext cx="1864519" cy="1421606"/>
          </a:xfrm>
          <a:prstGeom prst="roundRect">
            <a:avLst>
              <a:gd name="adj" fmla="val 8040"/>
            </a:avLst>
          </a:prstGeom>
          <a:solidFill>
            <a:srgbClr val="131C2E"/>
          </a:solidFill>
          <a:ln w="7144">
            <a:solidFill>
              <a:srgbClr val="1E2D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522369" y="106620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6707981" y="1380530"/>
            <a:ext cx="1857375" cy="7155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Real-Time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7352481" y="2123480"/>
            <a:ext cx="7275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Sync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3569" y="2330648"/>
            <a:ext cx="1746089" cy="133945"/>
          </a:xfrm>
          <a:prstGeom prst="rect">
            <a:avLst/>
          </a:prstGeom>
          <a:noFill/>
          <a:ln/>
        </p:spPr>
        <p:txBody>
          <a:bodyPr wrap="square" lIns="114300" tIns="0" rIns="11430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Instant KPI updates across all modules</a:t>
            </a:r>
            <a:endParaRPr lang="en-US" sz="619" dirty="0"/>
          </a:p>
        </p:txBody>
      </p:sp>
      <p:sp>
        <p:nvSpPr>
          <p:cNvPr id="23" name="Text 21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28600" y="4961334"/>
            <a:ext cx="80786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85951" y="4961334"/>
            <a:ext cx="6650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By The Numbers</a:t>
            </a:r>
            <a:endParaRPr lang="en-US" sz="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8636000" cy="32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Comprehensive Module Ecosystem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457200" y="871538"/>
            <a:ext cx="1950244" cy="1582341"/>
          </a:xfrm>
          <a:prstGeom prst="roundRect">
            <a:avLst>
              <a:gd name="adj" fmla="val 7223"/>
            </a:avLst>
          </a:prstGeom>
          <a:solidFill>
            <a:srgbClr val="131C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882253"/>
            <a:ext cx="1950244" cy="0"/>
          </a:xfrm>
          <a:prstGeom prst="line">
            <a:avLst/>
          </a:prstGeom>
          <a:noFill/>
          <a:ln w="21431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03872" y="871538"/>
            <a:ext cx="0" cy="1582341"/>
          </a:xfrm>
          <a:prstGeom prst="line">
            <a:avLst/>
          </a:prstGeom>
          <a:noFill/>
          <a:ln w="7144">
            <a:solidFill>
              <a:srgbClr val="1E2D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450306"/>
            <a:ext cx="1950244" cy="0"/>
          </a:xfrm>
          <a:prstGeom prst="line">
            <a:avLst/>
          </a:prstGeom>
          <a:noFill/>
          <a:ln w="7144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0772" y="871538"/>
            <a:ext cx="0" cy="1582341"/>
          </a:xfrm>
          <a:prstGeom prst="line">
            <a:avLst/>
          </a:prstGeom>
          <a:noFill/>
          <a:ln w="7144">
            <a:solidFill>
              <a:srgbClr val="1E2D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7219" y="1035844"/>
            <a:ext cx="165020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Asset Management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7219" y="1321594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Assets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7219" y="1532334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Equipment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7219" y="1743075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Assemblies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7219" y="1953816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BOM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07219" y="2164556"/>
            <a:ext cx="16502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50319" y="871538"/>
            <a:ext cx="1950244" cy="1582341"/>
          </a:xfrm>
          <a:prstGeom prst="roundRect">
            <a:avLst>
              <a:gd name="adj" fmla="val 7223"/>
            </a:avLst>
          </a:prstGeom>
          <a:solidFill>
            <a:srgbClr val="131C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550319" y="882253"/>
            <a:ext cx="1950244" cy="0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96991" y="871538"/>
            <a:ext cx="0" cy="1582341"/>
          </a:xfrm>
          <a:prstGeom prst="line">
            <a:avLst/>
          </a:prstGeom>
          <a:noFill/>
          <a:ln w="7144">
            <a:solidFill>
              <a:srgbClr val="1E2D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0319" y="2450306"/>
            <a:ext cx="1950244" cy="0"/>
          </a:xfrm>
          <a:prstGeom prst="line">
            <a:avLst/>
          </a:prstGeom>
          <a:noFill/>
          <a:ln w="7144">
            <a:solidFill>
              <a:srgbClr val="1E2D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3891" y="871538"/>
            <a:ext cx="0" cy="1582341"/>
          </a:xfrm>
          <a:prstGeom prst="line">
            <a:avLst/>
          </a:prstGeom>
          <a:noFill/>
          <a:ln w="7144">
            <a:solidFill>
              <a:srgbClr val="1E2D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00338" y="1035844"/>
            <a:ext cx="165020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Maintenance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00338" y="1321594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Requests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00338" y="1532334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 Orders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00338" y="1743075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PM Schedules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00338" y="1953816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Calibration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43438" y="871538"/>
            <a:ext cx="1950244" cy="1582341"/>
          </a:xfrm>
          <a:prstGeom prst="roundRect">
            <a:avLst>
              <a:gd name="adj" fmla="val 7223"/>
            </a:avLst>
          </a:prstGeom>
          <a:solidFill>
            <a:srgbClr val="131C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43438" y="882253"/>
            <a:ext cx="1950244" cy="0"/>
          </a:xfrm>
          <a:prstGeom prst="line">
            <a:avLst/>
          </a:prstGeom>
          <a:noFill/>
          <a:ln w="21431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90109" y="871538"/>
            <a:ext cx="0" cy="1582341"/>
          </a:xfrm>
          <a:prstGeom prst="line">
            <a:avLst/>
          </a:prstGeom>
          <a:noFill/>
          <a:ln w="7144">
            <a:solidFill>
              <a:srgbClr val="1E2D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43438" y="2450306"/>
            <a:ext cx="1950244" cy="0"/>
          </a:xfrm>
          <a:prstGeom prst="line">
            <a:avLst/>
          </a:prstGeom>
          <a:noFill/>
          <a:ln w="7144">
            <a:solidFill>
              <a:srgbClr val="1E2D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47009" y="871538"/>
            <a:ext cx="0" cy="1582341"/>
          </a:xfrm>
          <a:prstGeom prst="line">
            <a:avLst/>
          </a:prstGeom>
          <a:noFill/>
          <a:ln w="7144">
            <a:solidFill>
              <a:srgbClr val="1E2D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3456" y="1035844"/>
            <a:ext cx="165020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93456" y="1321594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93456" y="1532334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Shifts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93456" y="1743075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Downtime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93456" y="1953816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Checks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36556" y="871538"/>
            <a:ext cx="1950244" cy="1582341"/>
          </a:xfrm>
          <a:prstGeom prst="roundRect">
            <a:avLst>
              <a:gd name="adj" fmla="val 7223"/>
            </a:avLst>
          </a:prstGeom>
          <a:solidFill>
            <a:srgbClr val="131C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736556" y="882253"/>
            <a:ext cx="1950244" cy="0"/>
          </a:xfrm>
          <a:prstGeom prst="line">
            <a:avLst/>
          </a:prstGeom>
          <a:noFill/>
          <a:ln w="21431">
            <a:solidFill>
              <a:srgbClr val="8B5C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3228" y="871538"/>
            <a:ext cx="0" cy="1582341"/>
          </a:xfrm>
          <a:prstGeom prst="line">
            <a:avLst/>
          </a:prstGeom>
          <a:noFill/>
          <a:ln w="7144">
            <a:solidFill>
              <a:srgbClr val="1E2D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36556" y="2450306"/>
            <a:ext cx="1950244" cy="0"/>
          </a:xfrm>
          <a:prstGeom prst="line">
            <a:avLst/>
          </a:prstGeom>
          <a:noFill/>
          <a:ln w="7144">
            <a:solidFill>
              <a:srgbClr val="1E2D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40128" y="871538"/>
            <a:ext cx="0" cy="1582341"/>
          </a:xfrm>
          <a:prstGeom prst="line">
            <a:avLst/>
          </a:prstGeom>
          <a:noFill/>
          <a:ln w="7144">
            <a:solidFill>
              <a:srgbClr val="1E2D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86575" y="1035844"/>
            <a:ext cx="165020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Intelligence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86575" y="1321594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Analytics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86575" y="1532334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Reports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86575" y="1743075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IoT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886575" y="1953816"/>
            <a:ext cx="16502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228600" y="4961334"/>
            <a:ext cx="76924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935367" y="4961334"/>
            <a:ext cx="103883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Modules Overview</a:t>
            </a:r>
            <a:endParaRPr lang="en-US" sz="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71863" y="1753791"/>
            <a:ext cx="400050" cy="21431"/>
          </a:xfrm>
          <a:prstGeom prst="roundRect">
            <a:avLst>
              <a:gd name="adj" fmla="val 8889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4320" y="2003822"/>
            <a:ext cx="8595248" cy="424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Thank You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63887" y="2511028"/>
            <a:ext cx="3016114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13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 — Intelligent Asset Management Platform</a:t>
            </a:r>
            <a:endParaRPr lang="en-US" sz="1013" dirty="0"/>
          </a:p>
        </p:txBody>
      </p:sp>
      <p:sp>
        <p:nvSpPr>
          <p:cNvPr id="5" name="Text 3"/>
          <p:cNvSpPr/>
          <p:nvPr/>
        </p:nvSpPr>
        <p:spPr>
          <a:xfrm>
            <a:off x="4286138" y="2889647"/>
            <a:ext cx="571500" cy="7144"/>
          </a:xfrm>
          <a:prstGeom prst="rect">
            <a:avLst/>
          </a:prstGeom>
          <a:solidFill>
            <a:srgbClr val="1E2D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988485" y="3068241"/>
            <a:ext cx="3166919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Lightworld Technology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943243" y="3282553"/>
            <a:ext cx="3257403" cy="126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https://iassetspro.lightworldtech.com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70D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8600" y="4975622"/>
            <a:ext cx="7049542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28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iAssetsPro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292429" y="4975622"/>
            <a:ext cx="1720349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Maintenance Repairs — Work Order Workflow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2026-07-14T23:52:53Z</dcterms:created>
  <dcterms:modified xsi:type="dcterms:W3CDTF">2026-07-14T23:52:53Z</dcterms:modified>
</cp:coreProperties>
</file>