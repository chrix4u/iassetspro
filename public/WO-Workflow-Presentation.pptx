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286000"/>
            <a:ext cx="73152" cy="2286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9669"/>
                </a:solidFill>
                <a:latin typeface="Calibri"/>
              </a:defRPr>
            </a:pPr>
            <a:r>
              <a:t>iAssetsPro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Asset Management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Maintenance Repairs</a:t>
            </a:r>
            <a:br/>
            <a:r>
              <a:t>Work Order 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572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5A623"/>
                </a:solidFill>
                <a:latin typeface="Calibri"/>
              </a:defRPr>
            </a:pPr>
            <a:r>
              <a:t>Complete Workflow Presentation — From Request to Closure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A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Prepared for Client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446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Lightworld Technologies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WORKFLOW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Calibri"/>
              </a:defRPr>
            </a:pPr>
            <a:r>
              <a:t>End-to-End Maintenance Repair 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256032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256032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Request &amp; Approval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• Operator submits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  Maintenance Request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• Supervisor reviews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  &amp; approves request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• Real-time status 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291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463040"/>
            <a:ext cx="256032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463040"/>
            <a:ext cx="256032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828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194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Work Order Execution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83464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• Convert approved MR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  to Work Order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• Assign to technician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• Start work &amp; log time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• Track progress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291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463040"/>
            <a:ext cx="256032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463040"/>
            <a:ext cx="25603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828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194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Repair Resources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83464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• Tool request &amp; checkout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• Material requisition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• Tool transfers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• Downtime logging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• Inventory tracking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291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60" y="1463040"/>
            <a:ext cx="256032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52560" y="1463040"/>
            <a:ext cx="2560320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1828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194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Completion &amp; Reporting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83464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• Work completion sign-off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• Supervisor closure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• WO locked &amp; archived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• Analytics &amp; KPIs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• Compliance reports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iAssetsPro — Maintenance Repairs Work Order Module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2926080" cy="680313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PHASE 1 · REQUEST &amp; APPROVAL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4320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Central command center showing pending WOs, maintenance requests, asset health, and quick navigation to all modules.</a:t>
            </a:r>
          </a:p>
        </p:txBody>
      </p:sp>
      <p:sp>
        <p:nvSpPr>
          <p:cNvPr id="8" name="Oval 7"/>
          <p:cNvSpPr/>
          <p:nvPr/>
        </p:nvSpPr>
        <p:spPr>
          <a:xfrm>
            <a:off x="274320" y="6309360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891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03503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809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6187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646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59105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5564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92023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8483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4942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414015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57860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74319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779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02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74320"/>
            <a:ext cx="8686800" cy="61264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iAssetsPro — Maintenance Repairs Work Order Module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2926080" cy="680313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PHASE 1 · REQUEST &amp; APPROVAL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Maintenance Requests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4320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All submitted requests in a filterable table. Filter by status, priority, asset, and date. Supervisors approve/reject from here.</a:t>
            </a:r>
          </a:p>
        </p:txBody>
      </p:sp>
      <p:sp>
        <p:nvSpPr>
          <p:cNvPr id="8" name="Oval 7"/>
          <p:cNvSpPr/>
          <p:nvPr/>
        </p:nvSpPr>
        <p:spPr>
          <a:xfrm>
            <a:off x="27432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8912" y="6309360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03503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809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6187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646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59105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5564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92023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8483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4942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414015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57860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74319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779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02-maintenance-requ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74320"/>
            <a:ext cx="8686800" cy="61264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iAssetsPro — Maintenance Repairs Work Order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2926080" cy="680313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PHASE 1 · REQUEST &amp; APPROVAL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Create New Request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4320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Operators fill out the request form: describe the problem, select asset, set priority, and choose required trades.</a:t>
            </a:r>
          </a:p>
        </p:txBody>
      </p:sp>
      <p:sp>
        <p:nvSpPr>
          <p:cNvPr id="8" name="Oval 7"/>
          <p:cNvSpPr/>
          <p:nvPr/>
        </p:nvSpPr>
        <p:spPr>
          <a:xfrm>
            <a:off x="27432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891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03503" y="6309360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809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6187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646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59105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5564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92023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8483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4942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414015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57860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74319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779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03-create-mr-di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74320"/>
            <a:ext cx="8686800" cy="61264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iAssetsPro — Maintenance Repairs Work Order Module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2926080" cy="680313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PHASE 1 · REQUEST &amp; APPROVAL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Request Detail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4320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Full view of each request showing description, priority, asset details, approval chain with timestamps, and communication thread.</a:t>
            </a:r>
          </a:p>
        </p:txBody>
      </p:sp>
      <p:sp>
        <p:nvSpPr>
          <p:cNvPr id="8" name="Oval 7"/>
          <p:cNvSpPr/>
          <p:nvPr/>
        </p:nvSpPr>
        <p:spPr>
          <a:xfrm>
            <a:off x="27432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891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03503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8096" y="6309360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6187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646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59105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5564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92023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8483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4942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414015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57860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74319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779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04-mr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74320"/>
            <a:ext cx="8686800" cy="61264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iAssetsPro — Maintenance Repairs Work Order Module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2926080" cy="680313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PHASE 2 ·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Step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Work Orders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4320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Approved MRs converted to Work Orders. Track status, assigned technician, due dates, and priority levels at a glance.</a:t>
            </a:r>
          </a:p>
        </p:txBody>
      </p:sp>
      <p:sp>
        <p:nvSpPr>
          <p:cNvPr id="8" name="Oval 7"/>
          <p:cNvSpPr/>
          <p:nvPr/>
        </p:nvSpPr>
        <p:spPr>
          <a:xfrm>
            <a:off x="27432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891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03503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809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6309360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6187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646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59105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5564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92023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8483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4942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414015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57860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74319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779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05-work-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74320"/>
            <a:ext cx="8686800" cy="61264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iAssetsPro — Maintenance Repairs Work Order Module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2926080" cy="680313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PHASE 2 ·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Step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Work Order Detail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4320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Complete WO lifecycle: assigned technician, task progress, time tracking, linked MR, and action buttons for tools, materials, and completion.</a:t>
            </a:r>
          </a:p>
        </p:txBody>
      </p:sp>
      <p:sp>
        <p:nvSpPr>
          <p:cNvPr id="8" name="Oval 7"/>
          <p:cNvSpPr/>
          <p:nvPr/>
        </p:nvSpPr>
        <p:spPr>
          <a:xfrm>
            <a:off x="27432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891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03503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809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6309360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6187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646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59105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5564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92023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8483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4942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414015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57860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74319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779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06-wo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74320"/>
            <a:ext cx="8686800" cy="61264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iAssetsPro — Maintenance Repairs Work Order Module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2926080" cy="680313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PHASE 3 · REPAIR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Step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Tool Request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4320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From the WO detail, technicians request tools needed for the repair. Requests go to the tool shop for approval and issuance.</a:t>
            </a:r>
          </a:p>
        </p:txBody>
      </p:sp>
      <p:sp>
        <p:nvSpPr>
          <p:cNvPr id="8" name="Oval 7"/>
          <p:cNvSpPr/>
          <p:nvPr/>
        </p:nvSpPr>
        <p:spPr>
          <a:xfrm>
            <a:off x="27432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891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03503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809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61872" y="6309360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646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59105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5564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92023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8483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4942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414015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57860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74319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779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07-tool-request-di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74320"/>
            <a:ext cx="8686800" cy="61264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iAssetsPro — Maintenance Repairs Work Order Module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2926080" cy="680313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PHASE 3 · REPAIR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Step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Material Request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4320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Request spare parts and consumables. The requisition flows from technician → supervisor → store keeper → issuance.</a:t>
            </a:r>
          </a:p>
        </p:txBody>
      </p:sp>
      <p:sp>
        <p:nvSpPr>
          <p:cNvPr id="8" name="Oval 7"/>
          <p:cNvSpPr/>
          <p:nvPr/>
        </p:nvSpPr>
        <p:spPr>
          <a:xfrm>
            <a:off x="27432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891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03503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809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6187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6464" y="6309360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59105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5564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92023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8483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4942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414015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57860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74319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779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08-material-request-di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74320"/>
            <a:ext cx="8686800" cy="61264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iAssetsPro — Maintenance Repairs Work Order Module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2926080" cy="680313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PHASE 3 · REPAIR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Step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Tool Transfer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4320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Transfer tools between technicians or return them to the tool shop. Full chain-of-custody tracking maintained.</a:t>
            </a:r>
          </a:p>
        </p:txBody>
      </p:sp>
      <p:sp>
        <p:nvSpPr>
          <p:cNvPr id="8" name="Oval 7"/>
          <p:cNvSpPr/>
          <p:nvPr/>
        </p:nvSpPr>
        <p:spPr>
          <a:xfrm>
            <a:off x="27432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891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03503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809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6187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646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591056" y="6309360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5564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92023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8483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4942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414015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57860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74319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779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09-tool-transfer-di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74320"/>
            <a:ext cx="8686800" cy="61264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iAssetsPro — Maintenance Repairs Work Order Module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2926080" cy="680313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PHASE 3 · REPAIR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Step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Complete Work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4320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Mark work complete with findings, replaced parts, and final time log. Triggers supervisor review workflow.</a:t>
            </a:r>
          </a:p>
        </p:txBody>
      </p:sp>
      <p:sp>
        <p:nvSpPr>
          <p:cNvPr id="8" name="Oval 7"/>
          <p:cNvSpPr/>
          <p:nvPr/>
        </p:nvSpPr>
        <p:spPr>
          <a:xfrm>
            <a:off x="27432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891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03503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809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6187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646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59105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55648" y="6309360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92023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8483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4942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414015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57860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74319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779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10-complete-wo-di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74320"/>
            <a:ext cx="8686800" cy="61264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iAssetsPro — Maintenance Repairs Work Order Module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2926080" cy="680313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PHASE 3 · REPAIR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Step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Tool Requests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4320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Central view of all tool requests across work orders. Track status from submission through issuance to return.</a:t>
            </a:r>
          </a:p>
        </p:txBody>
      </p:sp>
      <p:sp>
        <p:nvSpPr>
          <p:cNvPr id="8" name="Oval 7"/>
          <p:cNvSpPr/>
          <p:nvPr/>
        </p:nvSpPr>
        <p:spPr>
          <a:xfrm>
            <a:off x="27432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891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03503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809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6187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646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59105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5564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920239" y="6309360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8483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4942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414015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57860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74319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779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11-tool-requ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74320"/>
            <a:ext cx="8686800" cy="61264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iAssetsPro — Maintenance Repairs Work Order Module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2926080" cy="680313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PHASE 4 · COMPLETION &amp;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Step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Material Requests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4320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All material requisitions in one place. Monitor approval status, issuance progress, and consumption tracking.</a:t>
            </a:r>
          </a:p>
        </p:txBody>
      </p:sp>
      <p:sp>
        <p:nvSpPr>
          <p:cNvPr id="8" name="Oval 7"/>
          <p:cNvSpPr/>
          <p:nvPr/>
        </p:nvSpPr>
        <p:spPr>
          <a:xfrm>
            <a:off x="27432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891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03503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809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6187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646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59105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5564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92023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84831" y="6309360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4942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414015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57860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74319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779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12-material-requ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74320"/>
            <a:ext cx="8686800" cy="61264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iAssetsPro — Maintenance Repairs Work Order Module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2926080" cy="680313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PHASE 4 · COMPLETION &amp;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Step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Tool Transfers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4320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Track all tool movements between technicians and the tool shop. Ensures accountability and proper tool management.</a:t>
            </a:r>
          </a:p>
        </p:txBody>
      </p:sp>
      <p:sp>
        <p:nvSpPr>
          <p:cNvPr id="8" name="Oval 7"/>
          <p:cNvSpPr/>
          <p:nvPr/>
        </p:nvSpPr>
        <p:spPr>
          <a:xfrm>
            <a:off x="27432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891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03503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809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6187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646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59105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5564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92023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8483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49424" y="6309360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414015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57860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74319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779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13-tool-transf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74320"/>
            <a:ext cx="8686800" cy="61264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iAssetsPro — Maintenance Repairs Work Order Module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2926080" cy="680313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PHASE 4 · COMPLETION &amp;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Step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Downtime Tracking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4320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Record and analyze equipment downtime. Classify impact levels and correlate with maintenance activities for cost analysis.</a:t>
            </a:r>
          </a:p>
        </p:txBody>
      </p:sp>
      <p:sp>
        <p:nvSpPr>
          <p:cNvPr id="8" name="Oval 7"/>
          <p:cNvSpPr/>
          <p:nvPr/>
        </p:nvSpPr>
        <p:spPr>
          <a:xfrm>
            <a:off x="27432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891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03503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809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6187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646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59105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5564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92023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8483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4942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414015" y="6309360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57860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74319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779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14-dow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74320"/>
            <a:ext cx="8686800" cy="61264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iAssetsPro — Maintenance Repairs Work Order Module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2926080" cy="680313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PHASE 4 · COMPLETION &amp;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Step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Completion &amp; Closure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4320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Formal WO completion review. Supervisors verify work quality, close the order, and lock it for archival.</a:t>
            </a:r>
          </a:p>
        </p:txBody>
      </p:sp>
      <p:sp>
        <p:nvSpPr>
          <p:cNvPr id="8" name="Oval 7"/>
          <p:cNvSpPr/>
          <p:nvPr/>
        </p:nvSpPr>
        <p:spPr>
          <a:xfrm>
            <a:off x="27432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891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03503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809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6187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646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59105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5564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92023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8483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4942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414015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578608" y="6309360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74319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779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15-comple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74320"/>
            <a:ext cx="8686800" cy="61264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iAssetsPro — Maintenance Repairs Work Order Module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2926080" cy="680313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PHASE 4 · COMPLETION &amp;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Step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Spare Part Returns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4320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Return unused parts after WO completion. Parts are inspected, restocked, and credited back to the original request.</a:t>
            </a:r>
          </a:p>
        </p:txBody>
      </p:sp>
      <p:sp>
        <p:nvSpPr>
          <p:cNvPr id="8" name="Oval 7"/>
          <p:cNvSpPr/>
          <p:nvPr/>
        </p:nvSpPr>
        <p:spPr>
          <a:xfrm>
            <a:off x="27432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891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03503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809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6187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646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59105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5564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92023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8483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4942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414015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57860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743199" y="6309360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779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16-spare-part-retu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74320"/>
            <a:ext cx="8686800" cy="61264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iAssetsPro — Maintenance Repairs Work Order Module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2926080" cy="680313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PHASE 4 · COMPLETION &amp;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Step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Damaged Tool Reports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4320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Document and track damaged tools discovered during repair. Supports replacement planning and procurement budgets.</a:t>
            </a:r>
          </a:p>
        </p:txBody>
      </p:sp>
      <p:sp>
        <p:nvSpPr>
          <p:cNvPr id="8" name="Oval 7"/>
          <p:cNvSpPr/>
          <p:nvPr/>
        </p:nvSpPr>
        <p:spPr>
          <a:xfrm>
            <a:off x="27432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891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03503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809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6187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646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59105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5564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92023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8483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4942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414015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57860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74319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7791" y="6309360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17-damaged-to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74320"/>
            <a:ext cx="8686800" cy="61264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iAssetsPro — Maintenance Repairs Work Order Module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2926080" cy="680313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PHASE 4 · COMPLETION &amp;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Step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Repair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4320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Real-time insights: WO completion rates, resolution times, technician productivity, equipment reliability, MTBF/MTTR, and trend analysis.</a:t>
            </a:r>
          </a:p>
        </p:txBody>
      </p:sp>
      <p:sp>
        <p:nvSpPr>
          <p:cNvPr id="8" name="Oval 7"/>
          <p:cNvSpPr/>
          <p:nvPr/>
        </p:nvSpPr>
        <p:spPr>
          <a:xfrm>
            <a:off x="27432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891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03503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809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6187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646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59105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5564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92023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8483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4942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414015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57860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74319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779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072384" y="6309360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18-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74320"/>
            <a:ext cx="8686800" cy="61264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iAssetsPro — Maintenance Repairs Work Order Module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2926080" cy="680313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Calibri"/>
              </a:defRPr>
            </a:pPr>
            <a:r>
              <a:t>PHASE 4 · COMPLETION &amp;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Step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Repair Reports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4320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Comprehensive reporting: by asset, overview stats, technician productivity, materials &amp; costs, downtime impact. Export to Excel, PDF, or Print.</a:t>
            </a:r>
          </a:p>
        </p:txBody>
      </p:sp>
      <p:sp>
        <p:nvSpPr>
          <p:cNvPr id="8" name="Oval 7"/>
          <p:cNvSpPr/>
          <p:nvPr/>
        </p:nvSpPr>
        <p:spPr>
          <a:xfrm>
            <a:off x="27432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891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03503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809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61872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646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591056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5564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92023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8483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4942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414015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578608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743199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7791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072384" y="6309360"/>
            <a:ext cx="91440" cy="91440"/>
          </a:xfrm>
          <a:prstGeom prst="ellipse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236975" y="6309360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18-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74320"/>
            <a:ext cx="8686800" cy="612648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0" y="6565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iAssetsPro — Maintenance Repairs Work Order Module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560320"/>
            <a:ext cx="73152" cy="1828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9669"/>
                </a:solidFill>
                <a:latin typeface="Calibri"/>
              </a:defRPr>
            </a:pPr>
            <a:r>
              <a:t>iAssetsPro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017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5A623"/>
                </a:solidFill>
                <a:latin typeface="Calibri"/>
              </a:defRPr>
            </a:pPr>
            <a:r>
              <a:t>Ready to transform your maintenance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937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Contact: info@iassetspro.com  |  www.lightworldtech.com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A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© 2025 Lightworld Technologies.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